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61" r:id="rId14"/>
    <p:sldId id="27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03446-43AA-459C-9109-956E3249F19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44462DD-9AD0-417A-814D-3DF799E51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65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03446-43AA-459C-9109-956E3249F19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62DD-9AD0-417A-814D-3DF799E518F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29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03446-43AA-459C-9109-956E3249F19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62DD-9AD0-417A-814D-3DF799E51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608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03446-43AA-459C-9109-956E3249F19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62DD-9AD0-417A-814D-3DF799E518F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96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03446-43AA-459C-9109-956E3249F19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62DD-9AD0-417A-814D-3DF799E518F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72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03446-43AA-459C-9109-956E3249F19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62DD-9AD0-417A-814D-3DF799E518F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33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03446-43AA-459C-9109-956E3249F19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62DD-9AD0-417A-814D-3DF799E51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70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03446-43AA-459C-9109-956E3249F19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62DD-9AD0-417A-814D-3DF799E51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257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8D03446-43AA-459C-9109-956E3249F19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62DD-9AD0-417A-814D-3DF799E518F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44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03446-43AA-459C-9109-956E3249F19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62DD-9AD0-417A-814D-3DF799E518F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845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03446-43AA-459C-9109-956E3249F19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462DD-9AD0-417A-814D-3DF799E51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25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03446-43AA-459C-9109-956E3249F19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44462DD-9AD0-417A-814D-3DF799E51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5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F5AD3A-F80D-931A-C63C-146AC885D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3" y="2015732"/>
            <a:ext cx="10477911" cy="42653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800" dirty="0"/>
              <a:t>ETHICAL AI-DRIVEN LOAN DECISION SUPPORT SYSTEM FOR NBFC</a:t>
            </a:r>
            <a:endParaRPr lang="en-IN" sz="4800" dirty="0"/>
          </a:p>
        </p:txBody>
      </p:sp>
      <p:pic>
        <p:nvPicPr>
          <p:cNvPr id="6" name="Google Shape;284;p22" descr="page1image38191520">
            <a:extLst>
              <a:ext uri="{FF2B5EF4-FFF2-40B4-BE49-F238E27FC236}">
                <a16:creationId xmlns:a16="http://schemas.microsoft.com/office/drawing/2014/main" id="{089C8E76-52FB-A67D-D15E-D499124FEE3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7086" y="-1"/>
            <a:ext cx="2569029" cy="2015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0498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B06EE89-B0BC-AF10-6853-D4B83981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>
            <a:normAutofit/>
          </a:bodyPr>
          <a:lstStyle/>
          <a:p>
            <a:r>
              <a:rPr lang="en-IN" dirty="0"/>
              <a:t>Problem Statement Explanation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7ABBBD-259B-3C12-E400-B436848DD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970314"/>
            <a:ext cx="12028713" cy="4005943"/>
          </a:xfrm>
        </p:spPr>
        <p:txBody>
          <a:bodyPr>
            <a:noAutofit/>
          </a:bodyPr>
          <a:lstStyle/>
          <a:p>
            <a:r>
              <a:rPr lang="en-US" sz="1600" dirty="0"/>
              <a:t>A </a:t>
            </a:r>
            <a:r>
              <a:rPr lang="en-US" sz="1600" b="1" dirty="0"/>
              <a:t>mid-sized NBFC</a:t>
            </a:r>
            <a:r>
              <a:rPr lang="en-US" sz="1600" dirty="0"/>
              <a:t> is facing the following challenges:</a:t>
            </a:r>
          </a:p>
          <a:p>
            <a:r>
              <a:rPr lang="en-US" sz="1600" b="1" dirty="0"/>
              <a:t>a) High Loan Processing Time</a:t>
            </a:r>
          </a:p>
          <a:p>
            <a:r>
              <a:rPr lang="en-US" sz="1600" dirty="0"/>
              <a:t>Manual verification, document checks, and branch-level approvals slow down loan sanctioning, leading to poor customer experience and loss of business.</a:t>
            </a:r>
          </a:p>
          <a:p>
            <a:r>
              <a:rPr lang="en-US" sz="1600" b="1" dirty="0"/>
              <a:t>b) Inconsistent Credit Decisions Across Branches</a:t>
            </a:r>
          </a:p>
          <a:p>
            <a:r>
              <a:rPr lang="en-US" sz="1600" dirty="0"/>
              <a:t>Different branches follow different judgment standards, causing unfair approvals/rejections and lack of standardization.</a:t>
            </a:r>
          </a:p>
          <a:p>
            <a:r>
              <a:rPr lang="en-US" sz="1600" b="1" dirty="0"/>
              <a:t>c) Rising NPAs in MSME Loans</a:t>
            </a:r>
          </a:p>
          <a:p>
            <a:r>
              <a:rPr lang="en-US" sz="1600" dirty="0"/>
              <a:t>Improper risk assessment, over-reliance on human judgment, and lack of predictive analytics lead to higher defaults.</a:t>
            </a:r>
          </a:p>
          <a:p>
            <a:r>
              <a:rPr lang="en-US" sz="1600" b="1" dirty="0"/>
              <a:t>d) Regulatory Scrutiny on AI Decisions</a:t>
            </a:r>
          </a:p>
          <a:p>
            <a:r>
              <a:rPr lang="en-US" sz="1600" dirty="0"/>
              <a:t>Regulators (RBI) demand </a:t>
            </a:r>
            <a:r>
              <a:rPr lang="en-US" sz="1600" b="1" dirty="0"/>
              <a:t>transparent, explainable, and unbiased</a:t>
            </a:r>
            <a:r>
              <a:rPr lang="en-US" sz="1600" dirty="0"/>
              <a:t> decision-making systems. Black-box AI models create compliance risk.</a:t>
            </a:r>
          </a:p>
        </p:txBody>
      </p:sp>
    </p:spTree>
    <p:extLst>
      <p:ext uri="{BB962C8B-B14F-4D97-AF65-F5344CB8AC3E}">
        <p14:creationId xmlns:p14="http://schemas.microsoft.com/office/powerpoint/2010/main" val="1590209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685F-94EA-6B98-C16F-4D2C3218A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07570"/>
            <a:ext cx="10058400" cy="870859"/>
          </a:xfrm>
        </p:spPr>
        <p:txBody>
          <a:bodyPr>
            <a:normAutofit fontScale="90000"/>
          </a:bodyPr>
          <a:lstStyle/>
          <a:p>
            <a:r>
              <a:rPr lang="en-IN" dirty="0"/>
              <a:t>Objective of the System: </a:t>
            </a:r>
            <a:r>
              <a:rPr lang="en-US" dirty="0"/>
              <a:t>Design an Ethical AI-Driven Loan Decision Support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114F2-3E2B-C89F-8BCC-D60704AEB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015732"/>
            <a:ext cx="10652083" cy="403774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A. Transaction Processing System (TPS)</a:t>
            </a:r>
          </a:p>
          <a:p>
            <a:pPr marL="0" indent="0">
              <a:buNone/>
            </a:pPr>
            <a:r>
              <a:rPr lang="en-US" b="1" dirty="0"/>
              <a:t>   Purpose:</a:t>
            </a:r>
            <a:r>
              <a:rPr lang="en-US" dirty="0"/>
              <a:t> Automates and records day-to-day loan transactions.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Outcome:</a:t>
            </a:r>
            <a:r>
              <a:rPr lang="en-US" dirty="0"/>
              <a:t> Faster processing &amp; error-free data collection</a:t>
            </a:r>
          </a:p>
          <a:p>
            <a:r>
              <a:rPr lang="en-US" b="1" dirty="0"/>
              <a:t>B. Management Information System (MIS)</a:t>
            </a:r>
          </a:p>
          <a:p>
            <a:r>
              <a:rPr lang="en-US" b="1" dirty="0"/>
              <a:t>Purpose:</a:t>
            </a:r>
            <a:r>
              <a:rPr lang="en-US" dirty="0"/>
              <a:t> Converts TPS data into decision-support reports.</a:t>
            </a:r>
          </a:p>
          <a:p>
            <a:pPr marL="0" indent="0">
              <a:buNone/>
            </a:pPr>
            <a:r>
              <a:rPr lang="en-US" dirty="0"/>
              <a:t>📌 </a:t>
            </a:r>
            <a:r>
              <a:rPr lang="en-US" b="1" dirty="0"/>
              <a:t>Outcome:</a:t>
            </a:r>
            <a:r>
              <a:rPr lang="en-US" dirty="0"/>
              <a:t> Helps managers monitor risk and standardize decisions</a:t>
            </a:r>
          </a:p>
          <a:p>
            <a:r>
              <a:rPr lang="en-US" b="1" dirty="0"/>
              <a:t>C. Machine Learning Risk Prediction System</a:t>
            </a:r>
          </a:p>
          <a:p>
            <a:r>
              <a:rPr lang="en-US" b="1" dirty="0"/>
              <a:t>Purpose:</a:t>
            </a:r>
            <a:r>
              <a:rPr lang="en-US" dirty="0"/>
              <a:t> Predict probability of default (credit risk).</a:t>
            </a:r>
          </a:p>
          <a:p>
            <a:r>
              <a:rPr lang="en-US" dirty="0"/>
              <a:t>📌 </a:t>
            </a:r>
            <a:r>
              <a:rPr lang="en-US" b="1" dirty="0"/>
              <a:t>Ethical Choice:</a:t>
            </a:r>
            <a:r>
              <a:rPr lang="en-US" dirty="0"/>
              <a:t> Prefer interpretable models over black-box models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2288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4CC0C-9844-62CA-E2AB-26D00F622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257" y="2015732"/>
            <a:ext cx="9650598" cy="345061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D. Rule-Based Expert Judgment System</a:t>
            </a:r>
          </a:p>
          <a:p>
            <a:r>
              <a:rPr lang="en-US" b="1" dirty="0"/>
              <a:t>Purpose:</a:t>
            </a:r>
            <a:r>
              <a:rPr lang="en-US" dirty="0"/>
              <a:t> Apply human expertise &amp; regulatory logic.</a:t>
            </a:r>
          </a:p>
          <a:p>
            <a:pPr marL="0" indent="0">
              <a:buNone/>
            </a:pPr>
            <a:r>
              <a:rPr lang="en-US" dirty="0"/>
              <a:t>📌 </a:t>
            </a:r>
            <a:r>
              <a:rPr lang="en-US" b="1" dirty="0"/>
              <a:t>Outcome:</a:t>
            </a:r>
            <a:r>
              <a:rPr lang="en-US" dirty="0"/>
              <a:t> Combines AI intelligence with human wisdom.</a:t>
            </a:r>
          </a:p>
          <a:p>
            <a:r>
              <a:rPr lang="en-US" b="1" dirty="0"/>
              <a:t>E. Ethical &amp; Compliance Layer</a:t>
            </a:r>
          </a:p>
          <a:p>
            <a:r>
              <a:rPr lang="en-US" b="1" dirty="0"/>
              <a:t>Ensures:</a:t>
            </a:r>
            <a:endParaRPr lang="en-US" dirty="0"/>
          </a:p>
          <a:p>
            <a:r>
              <a:rPr lang="en-US" b="1" dirty="0"/>
              <a:t>Fairness:</a:t>
            </a:r>
            <a:r>
              <a:rPr lang="en-US" dirty="0"/>
              <a:t> No bias based on gender, caste, region</a:t>
            </a:r>
          </a:p>
          <a:p>
            <a:r>
              <a:rPr lang="en-US" b="1" dirty="0"/>
              <a:t>Transparency:</a:t>
            </a:r>
            <a:r>
              <a:rPr lang="en-US" dirty="0"/>
              <a:t> Explainable reasons for approval/rejection</a:t>
            </a:r>
          </a:p>
          <a:p>
            <a:r>
              <a:rPr lang="en-US" b="1" dirty="0"/>
              <a:t>Accountability:</a:t>
            </a:r>
            <a:r>
              <a:rPr lang="en-US" dirty="0"/>
              <a:t> Decision logs for audit</a:t>
            </a:r>
          </a:p>
          <a:p>
            <a:r>
              <a:rPr lang="en-US" b="1" dirty="0"/>
              <a:t>Regulatory Compliance:</a:t>
            </a:r>
            <a:r>
              <a:rPr lang="en-US" dirty="0"/>
              <a:t> RBI, Fair Lending norms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787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4387-9DCD-6903-A727-9E6332EBF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cap="none" dirty="0">
                <a:latin typeface="Arial" panose="020B0604020202020204" pitchFamily="34" charset="0"/>
              </a:rPr>
              <a:t> Cost Estimation to Implement the System (Approx.)</a:t>
            </a:r>
            <a:br>
              <a:rPr lang="en-US" altLang="en-US" b="1" cap="none" dirty="0"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039F96-BA37-A741-A5B3-5C9DDDB65A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027161"/>
              </p:ext>
            </p:extLst>
          </p:nvPr>
        </p:nvGraphicFramePr>
        <p:xfrm>
          <a:off x="1450480" y="2027950"/>
          <a:ext cx="9604374" cy="3660672"/>
        </p:xfrm>
        <a:graphic>
          <a:graphicData uri="http://schemas.openxmlformats.org/drawingml/2006/table">
            <a:tbl>
              <a:tblPr/>
              <a:tblGrid>
                <a:gridCol w="4589340">
                  <a:extLst>
                    <a:ext uri="{9D8B030D-6E8A-4147-A177-3AD203B41FA5}">
                      <a16:colId xmlns:a16="http://schemas.microsoft.com/office/drawing/2014/main" val="826741345"/>
                    </a:ext>
                  </a:extLst>
                </a:gridCol>
                <a:gridCol w="5015034">
                  <a:extLst>
                    <a:ext uri="{9D8B030D-6E8A-4147-A177-3AD203B41FA5}">
                      <a16:colId xmlns:a16="http://schemas.microsoft.com/office/drawing/2014/main" val="408594020"/>
                    </a:ext>
                  </a:extLst>
                </a:gridCol>
              </a:tblGrid>
              <a:tr h="610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</a:t>
                      </a:r>
                      <a:r>
                        <a:rPr lang="en-IN" sz="1800" dirty="0"/>
                        <a:t>OMPONENTS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Estimated Cost (₹)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415154"/>
                  </a:ext>
                </a:extLst>
              </a:tr>
              <a:tr h="610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</a:t>
                      </a:r>
                      <a:r>
                        <a:rPr lang="en-IN" sz="1800" dirty="0"/>
                        <a:t>I/ML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8–12 lakhs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246670"/>
                  </a:ext>
                </a:extLst>
              </a:tr>
              <a:tr h="610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SOFTWARE INTEGRATION(TPS+MIS)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8–8 lakhs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437813"/>
                  </a:ext>
                </a:extLst>
              </a:tr>
              <a:tr h="610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</a:t>
                      </a:r>
                      <a:r>
                        <a:rPr lang="en-IN" sz="1800" dirty="0"/>
                        <a:t>LOUD INFRASTRUCTURE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3–5 lakhs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990445"/>
                  </a:ext>
                </a:extLst>
              </a:tr>
              <a:tr h="610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COMPLIANCE &amp; TESTING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2-3 lakhs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949275"/>
                  </a:ext>
                </a:extLst>
              </a:tr>
              <a:tr h="610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TOTAL ESTIMATION COST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</a:t>
                      </a:r>
                      <a:r>
                        <a:rPr lang="en-IN" sz="1800" dirty="0"/>
                        <a:t>8-28 lakhs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070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842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2BD17-AA3B-8C90-AF93-12B37455B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583" y="196967"/>
            <a:ext cx="3548377" cy="585651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C28D39-19DC-27A1-7AD7-4CB91717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804519"/>
            <a:ext cx="7837714" cy="1049235"/>
          </a:xfrm>
        </p:spPr>
        <p:txBody>
          <a:bodyPr>
            <a:normAutofit/>
          </a:bodyPr>
          <a:lstStyle/>
          <a:p>
            <a:r>
              <a:rPr lang="en-IN" sz="2800" dirty="0"/>
              <a:t>Variables of LOAN ELIGIBILITY CHECKER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275C63-BB01-FFEF-FEA7-0E78F59B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2" y="2102818"/>
            <a:ext cx="7935684" cy="34506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AI TOOLS: </a:t>
            </a:r>
          </a:p>
          <a:p>
            <a:r>
              <a:rPr lang="en-IN" dirty="0"/>
              <a:t>Front End: Java, HDML, CSS</a:t>
            </a:r>
          </a:p>
          <a:p>
            <a:r>
              <a:rPr lang="en-IN" dirty="0"/>
              <a:t>Back End: Java Script</a:t>
            </a:r>
          </a:p>
          <a:p>
            <a:pPr marL="0" indent="0">
              <a:buNone/>
            </a:pPr>
            <a:r>
              <a:rPr lang="en-IN" dirty="0"/>
              <a:t>Variables: </a:t>
            </a:r>
          </a:p>
          <a:p>
            <a:pPr marL="0" indent="0">
              <a:buNone/>
            </a:pPr>
            <a:r>
              <a:rPr lang="en-IN" dirty="0"/>
              <a:t>Age, business type, vintage year, monthly income, yearly turnover, credit score, defaults, loan amount, tenure, collateral, ML risk, risk score.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1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874D69-51FE-F1E4-78D1-0BCC12DD9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4408"/>
            <a:ext cx="12192000" cy="374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61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A5149C-45B3-BFF1-A2D2-1BCAE162D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6720"/>
            <a:ext cx="12192000" cy="440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537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699181-5649-9A4A-62EF-6A4F073DB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Ethical AI–Driven Loan Eligibility System</a:t>
            </a:r>
            <a:br>
              <a:rPr lang="en-US" b="1" dirty="0"/>
            </a:br>
            <a:r>
              <a:rPr lang="en-US" b="1" dirty="0"/>
              <a:t>Rule-Based Risk Assessment Framework</a:t>
            </a:r>
            <a:br>
              <a:rPr lang="en-US" b="1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0DAEEC-A788-9E30-E2AD-48306EBEF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document describes the rule-based logic used in the AI-driven Loan Decision Support System. The system calculates a </a:t>
            </a:r>
            <a:r>
              <a:rPr lang="en-US" b="1" dirty="0"/>
              <a:t>Risk Score</a:t>
            </a:r>
            <a:r>
              <a:rPr lang="en-US" dirty="0"/>
              <a:t> based on applicant profile, business characteristics, financial stability, and collateral security. Based on the computed score, the system determines the </a:t>
            </a:r>
            <a:r>
              <a:rPr lang="en-US" b="1" dirty="0"/>
              <a:t>Risk Category</a:t>
            </a:r>
            <a:r>
              <a:rPr lang="en-US" dirty="0"/>
              <a:t>, </a:t>
            </a:r>
            <a:r>
              <a:rPr lang="en-US" b="1" dirty="0"/>
              <a:t>Final Decision</a:t>
            </a:r>
            <a:r>
              <a:rPr lang="en-US" dirty="0"/>
              <a:t>, and </a:t>
            </a:r>
            <a:r>
              <a:rPr lang="en-US" b="1" dirty="0"/>
              <a:t>Eligibility Status</a:t>
            </a:r>
            <a:r>
              <a:rPr lang="en-US" dirty="0"/>
              <a:t>.</a:t>
            </a:r>
          </a:p>
          <a:p>
            <a:r>
              <a:rPr lang="en-US" dirty="0"/>
              <a:t>The base risk score starts at:</a:t>
            </a:r>
          </a:p>
          <a:p>
            <a:r>
              <a:rPr lang="en-US" b="1" dirty="0"/>
              <a:t>Initial Risk Score = 50</a:t>
            </a:r>
            <a:endParaRPr lang="en-US" dirty="0"/>
          </a:p>
          <a:p>
            <a:r>
              <a:rPr lang="en-US" dirty="0"/>
              <a:t>The score is then adjusted using the following objective rules.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6596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CDD910-0AE0-5016-4F3A-361C3573E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193" y="989753"/>
            <a:ext cx="10058400" cy="899940"/>
          </a:xfrm>
        </p:spPr>
        <p:txBody>
          <a:bodyPr/>
          <a:lstStyle/>
          <a:p>
            <a:r>
              <a:rPr lang="en-US" dirty="0"/>
              <a:t>RULES BASED EXPERT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BCC60-0468-1BC3-79B8-8B2F6E1C2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457" y="1883229"/>
            <a:ext cx="5755026" cy="416988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Rule 1: Age Risk Rule</a:t>
            </a:r>
          </a:p>
          <a:p>
            <a:pPr marL="0" indent="0">
              <a:buNone/>
            </a:pPr>
            <a:r>
              <a:rPr lang="en-US" dirty="0"/>
              <a:t>   If applicant age is </a:t>
            </a:r>
            <a:r>
              <a:rPr lang="en-US" b="1" dirty="0"/>
              <a:t>below 21 years or above 65 years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→ Add </a:t>
            </a:r>
            <a:r>
              <a:rPr lang="en-US" b="1" dirty="0"/>
              <a:t>15 points</a:t>
            </a:r>
            <a:r>
              <a:rPr lang="en-US" dirty="0"/>
              <a:t> to risk score.</a:t>
            </a:r>
          </a:p>
          <a:p>
            <a:pPr marL="0" indent="0">
              <a:buNone/>
            </a:pPr>
            <a:r>
              <a:rPr lang="en-US" b="1" dirty="0"/>
              <a:t>   Reason:</a:t>
            </a:r>
            <a:r>
              <a:rPr lang="en-US" dirty="0"/>
              <a:t> Higher default probability outside productive age group.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Rule 2: Business Type Risk Rule</a:t>
            </a:r>
          </a:p>
          <a:p>
            <a:pPr marL="0" indent="0">
              <a:buNone/>
            </a:pPr>
            <a:r>
              <a:rPr lang="en-US" dirty="0"/>
              <a:t>   If Business Type = </a:t>
            </a:r>
            <a:r>
              <a:rPr lang="en-US" b="1" dirty="0"/>
              <a:t>Startup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→ Add </a:t>
            </a:r>
            <a:r>
              <a:rPr lang="en-US" b="1" dirty="0"/>
              <a:t>10 points  </a:t>
            </a:r>
          </a:p>
          <a:p>
            <a:pPr marL="0" indent="0">
              <a:buNone/>
            </a:pPr>
            <a:r>
              <a:rPr lang="en-US" dirty="0"/>
              <a:t>   If Business Type = </a:t>
            </a:r>
            <a:r>
              <a:rPr lang="en-US" b="1" dirty="0"/>
              <a:t>Service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→ Add </a:t>
            </a:r>
            <a:r>
              <a:rPr lang="en-US" b="1" dirty="0"/>
              <a:t>5 points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 Reason:</a:t>
            </a:r>
            <a:r>
              <a:rPr lang="en-US" dirty="0"/>
              <a:t> Startups and service sectors carry moderate to higher risk compared   to established trading/manufacturing.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6571AB-38DB-0DBD-26E1-72B5C0747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0" y="1889693"/>
            <a:ext cx="5636715" cy="416988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Rule 3: Business Vintage Rule</a:t>
            </a:r>
          </a:p>
          <a:p>
            <a:pPr marL="0" indent="0">
              <a:buNone/>
            </a:pPr>
            <a:r>
              <a:rPr lang="en-US" dirty="0"/>
              <a:t>     If Business Vintage &lt; 2 years</a:t>
            </a:r>
            <a:br>
              <a:rPr lang="en-US" dirty="0"/>
            </a:br>
            <a:r>
              <a:rPr lang="en-US" dirty="0"/>
              <a:t>     → Add </a:t>
            </a:r>
            <a:r>
              <a:rPr lang="en-US" b="1" dirty="0"/>
              <a:t>15 points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If Business Vintage ≥ 5 years</a:t>
            </a:r>
            <a:br>
              <a:rPr lang="en-US" dirty="0"/>
            </a:br>
            <a:r>
              <a:rPr lang="en-US" dirty="0"/>
              <a:t>     → Subtract </a:t>
            </a:r>
            <a:r>
              <a:rPr lang="en-US" b="1" dirty="0"/>
              <a:t>10 points</a:t>
            </a:r>
            <a:endParaRPr lang="en-US" dirty="0"/>
          </a:p>
          <a:p>
            <a:pPr>
              <a:buNone/>
            </a:pPr>
            <a:r>
              <a:rPr lang="en-US" b="1" dirty="0"/>
              <a:t>    Reason:</a:t>
            </a:r>
            <a:r>
              <a:rPr lang="en-US" dirty="0"/>
              <a:t> Experienced businesses are more stable and less risky.</a:t>
            </a:r>
          </a:p>
          <a:p>
            <a:r>
              <a:rPr lang="en-US" b="1" dirty="0"/>
              <a:t>Rule 4: Credit Score Rule</a:t>
            </a:r>
          </a:p>
          <a:p>
            <a:pPr marL="0" indent="0">
              <a:buNone/>
            </a:pPr>
            <a:r>
              <a:rPr lang="en-US" dirty="0"/>
              <a:t>    If Credit Score ≥ 750</a:t>
            </a:r>
            <a:br>
              <a:rPr lang="en-US" dirty="0"/>
            </a:br>
            <a:r>
              <a:rPr lang="en-US" dirty="0"/>
              <a:t>    → Subtract </a:t>
            </a:r>
            <a:r>
              <a:rPr lang="en-US" b="1" dirty="0"/>
              <a:t>20 points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If Credit Score ≥ 650 and &lt; 750</a:t>
            </a:r>
            <a:br>
              <a:rPr lang="en-US" dirty="0"/>
            </a:br>
            <a:r>
              <a:rPr lang="en-US" dirty="0"/>
              <a:t>    → Subtract </a:t>
            </a:r>
            <a:r>
              <a:rPr lang="en-US" b="1" dirty="0"/>
              <a:t>10 points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If Credit Score &lt; 650</a:t>
            </a:r>
            <a:br>
              <a:rPr lang="en-US" dirty="0"/>
            </a:br>
            <a:r>
              <a:rPr lang="en-US" dirty="0"/>
              <a:t>   → Add </a:t>
            </a:r>
            <a:r>
              <a:rPr lang="en-US" b="1" dirty="0"/>
              <a:t>20 points</a:t>
            </a:r>
            <a:endParaRPr lang="en-US" dirty="0"/>
          </a:p>
          <a:p>
            <a:pPr>
              <a:buNone/>
            </a:pPr>
            <a:r>
              <a:rPr lang="en-US" b="1" dirty="0"/>
              <a:t>  Reason:</a:t>
            </a:r>
            <a:r>
              <a:rPr lang="en-US" dirty="0"/>
              <a:t> Credit score is the strongest predictor of repayment behavior.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7428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81FBCF-BC7A-2591-870C-59CE8749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RULES BASED EXPERT SYSTEM</a:t>
            </a:r>
            <a:br>
              <a:rPr lang="en-US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E83A9F-C373-D5E4-62D2-10C6CB0AB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8457" y="2010878"/>
            <a:ext cx="5374026" cy="4128665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Rule 5: Default History Rule</a:t>
            </a:r>
          </a:p>
          <a:p>
            <a:pPr marL="0" indent="0">
              <a:buNone/>
            </a:pPr>
            <a:r>
              <a:rPr lang="en-US" dirty="0"/>
              <a:t>     If Past Defaults = 1</a:t>
            </a:r>
            <a:br>
              <a:rPr lang="en-US" dirty="0"/>
            </a:br>
            <a:r>
              <a:rPr lang="en-US" dirty="0"/>
              <a:t>     → Add </a:t>
            </a:r>
            <a:r>
              <a:rPr lang="en-US" b="1" dirty="0"/>
              <a:t>10 points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If Past Defaults &gt; 1</a:t>
            </a:r>
            <a:br>
              <a:rPr lang="en-US" dirty="0"/>
            </a:br>
            <a:r>
              <a:rPr lang="en-US" dirty="0"/>
              <a:t>     → Add </a:t>
            </a:r>
            <a:r>
              <a:rPr lang="en-US" b="1" dirty="0"/>
              <a:t>25 points</a:t>
            </a:r>
          </a:p>
          <a:p>
            <a:pPr marL="0" indent="0">
              <a:buNone/>
            </a:pPr>
            <a:r>
              <a:rPr lang="en-US" b="1" dirty="0"/>
              <a:t>     Reason:</a:t>
            </a:r>
            <a:r>
              <a:rPr lang="en-US" dirty="0"/>
              <a:t> Past behavior strongly influences future   repayment probability.</a:t>
            </a:r>
          </a:p>
          <a:p>
            <a:r>
              <a:rPr lang="en-US" b="1" dirty="0"/>
              <a:t>Rule 6: EMI Burden Rule (Affordability Check)</a:t>
            </a:r>
          </a:p>
          <a:p>
            <a:pPr marL="0" indent="0">
              <a:buNone/>
            </a:pPr>
            <a:r>
              <a:rPr lang="en-US" dirty="0"/>
              <a:t>     If Monthly EMI (Loan Amount ÷ Tenure) &gt; 40% of Monthly Income</a:t>
            </a:r>
            <a:br>
              <a:rPr lang="en-US" dirty="0"/>
            </a:br>
            <a:r>
              <a:rPr lang="en-US" dirty="0"/>
              <a:t>    → Add </a:t>
            </a:r>
            <a:r>
              <a:rPr lang="en-US" b="1" dirty="0"/>
              <a:t>15 points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  Reason:</a:t>
            </a:r>
            <a:r>
              <a:rPr lang="en-US" dirty="0"/>
              <a:t> High EMI burden increases risk of default.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70B264-4426-DA11-1DF6-6C2BFD7B6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5146858" cy="344152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Rule 7: Collateral Coverage Rule</a:t>
            </a:r>
          </a:p>
          <a:p>
            <a:pPr marL="0" indent="0">
              <a:buNone/>
            </a:pPr>
            <a:r>
              <a:rPr lang="en-US" dirty="0"/>
              <a:t>     If Collateral Value ≥ Loan Amount</a:t>
            </a:r>
            <a:br>
              <a:rPr lang="en-US" dirty="0"/>
            </a:br>
            <a:r>
              <a:rPr lang="en-US" dirty="0"/>
              <a:t>     → Subtract </a:t>
            </a:r>
            <a:r>
              <a:rPr lang="en-US" b="1" dirty="0"/>
              <a:t>10 points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If Collateral Value &lt; 50% of Loan Amount</a:t>
            </a:r>
            <a:br>
              <a:rPr lang="en-US" dirty="0"/>
            </a:br>
            <a:r>
              <a:rPr lang="en-US" dirty="0"/>
              <a:t>    → Add </a:t>
            </a:r>
            <a:r>
              <a:rPr lang="en-US" b="1" dirty="0"/>
              <a:t>15 points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 Reason:</a:t>
            </a:r>
            <a:r>
              <a:rPr lang="en-US" dirty="0"/>
              <a:t> Higher collateral reduces financial risk to NBFC.</a:t>
            </a:r>
          </a:p>
          <a:p>
            <a:r>
              <a:rPr lang="en-US" b="1" dirty="0"/>
              <a:t>3. Risk Categorization Logic</a:t>
            </a:r>
          </a:p>
          <a:p>
            <a:pPr marL="0" indent="0">
              <a:buNone/>
            </a:pPr>
            <a:r>
              <a:rPr lang="en-US" dirty="0"/>
              <a:t>     After applying all rules, the final Risk Score is categorized as:</a:t>
            </a:r>
          </a:p>
          <a:p>
            <a:pPr marL="0" indent="0">
              <a:buNone/>
            </a:pPr>
            <a:r>
              <a:rPr lang="en-US" b="1" dirty="0"/>
              <a:t>    Risk Score ≤ 40 → Low Risk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Risk Score between 41–70 → Medium Risk</a:t>
            </a:r>
          </a:p>
          <a:p>
            <a:pPr marL="0" indent="0">
              <a:buNone/>
            </a:pPr>
            <a:r>
              <a:rPr lang="en-US" b="1" dirty="0"/>
              <a:t>   Risk Score &gt; 70 → High Risk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3247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AAA79-A2E2-CF9D-FF45-E1B4E4D8AABD}"/>
              </a:ext>
            </a:extLst>
          </p:cNvPr>
          <p:cNvSpPr txBox="1"/>
          <p:nvPr/>
        </p:nvSpPr>
        <p:spPr>
          <a:xfrm>
            <a:off x="805543" y="555170"/>
            <a:ext cx="103849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Decision-Making Rules</a:t>
            </a:r>
          </a:p>
          <a:p>
            <a:r>
              <a:rPr lang="en-US" dirty="0"/>
              <a:t>    Based on Risk Category:</a:t>
            </a:r>
          </a:p>
          <a:p>
            <a:r>
              <a:rPr lang="en-US" dirty="0"/>
              <a:t>    Risk Category    Final Decision</a:t>
            </a:r>
          </a:p>
          <a:p>
            <a:r>
              <a:rPr lang="en-US" dirty="0"/>
              <a:t>    Low- Approved →</a:t>
            </a:r>
            <a:r>
              <a:rPr lang="en-US" i="1" dirty="0"/>
              <a:t>“Congratulations! Your loan is approved.”</a:t>
            </a:r>
            <a:endParaRPr lang="en-US" dirty="0"/>
          </a:p>
          <a:p>
            <a:r>
              <a:rPr lang="en-US" dirty="0"/>
              <a:t>    Medium- Manual Review →</a:t>
            </a:r>
            <a:r>
              <a:rPr lang="en-US" i="1" dirty="0"/>
              <a:t>“Your application requires manual verification.”</a:t>
            </a:r>
            <a:endParaRPr lang="en-US" dirty="0"/>
          </a:p>
          <a:p>
            <a:r>
              <a:rPr lang="en-US" dirty="0"/>
              <a:t>    High- Rejected →</a:t>
            </a:r>
            <a:r>
              <a:rPr lang="en-US" i="1" dirty="0"/>
              <a:t>“Your loan application is rejected due to high risk.”</a:t>
            </a:r>
          </a:p>
          <a:p>
            <a:endParaRPr lang="en-US" b="1" i="1" dirty="0"/>
          </a:p>
          <a:p>
            <a:r>
              <a:rPr lang="en-US" b="1" dirty="0"/>
              <a:t>5. Eligibility Status Rule</a:t>
            </a:r>
          </a:p>
          <a:p>
            <a:r>
              <a:rPr lang="en-US" dirty="0"/>
              <a:t>If Final Decision = Rejected</a:t>
            </a:r>
            <a:br>
              <a:rPr lang="en-US" dirty="0"/>
            </a:br>
            <a:r>
              <a:rPr lang="en-US" dirty="0"/>
              <a:t>→ Status = Not Eligible</a:t>
            </a:r>
          </a:p>
          <a:p>
            <a:r>
              <a:rPr lang="en-US" dirty="0"/>
              <a:t>Otherwise</a:t>
            </a:r>
            <a:br>
              <a:rPr lang="en-US" dirty="0"/>
            </a:br>
            <a:r>
              <a:rPr lang="en-US" dirty="0"/>
              <a:t>→ Status = Eligible</a:t>
            </a:r>
          </a:p>
          <a:p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674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67148-BB75-CD2F-64EB-4932445A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BENEFITS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A9739-8DA7-09FA-14BE-F0F09C0B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LOAN PROCESSING TIME : Reduced by 40-60% </a:t>
            </a:r>
          </a:p>
          <a:p>
            <a:r>
              <a:rPr lang="en-US" dirty="0"/>
              <a:t>NPA( NON-PERFORMING ASSETS )REDUCTION : Reduced by 15-20%</a:t>
            </a:r>
          </a:p>
          <a:p>
            <a:r>
              <a:rPr lang="en-IN" dirty="0"/>
              <a:t>CONSISTENT DECISION ACROSS BRANCHES </a:t>
            </a:r>
          </a:p>
          <a:p>
            <a:r>
              <a:rPr lang="en-IN" dirty="0"/>
              <a:t>BETTER REGULATORY COMPLIANCE</a:t>
            </a:r>
          </a:p>
          <a:p>
            <a:r>
              <a:rPr lang="en-IN" dirty="0"/>
              <a:t>IMPROVED CUSTOMER TRUST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392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14A67-4789-D639-3DC0-B90C3557D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RECOMMENDTIONS FOR LOAN PROCESSING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100B7-AE93-0218-725D-6AE4ACF08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vintage year is more than 10 years, if the credit score is low and your collateral value is more than 50%, then the candidate is approved for the loan.</a:t>
            </a:r>
          </a:p>
          <a:p>
            <a:r>
              <a:rPr lang="en-IN" dirty="0"/>
              <a:t>Use of e-KYC&amp;API Integration for verification of and individual.</a:t>
            </a:r>
          </a:p>
        </p:txBody>
      </p:sp>
    </p:spTree>
    <p:extLst>
      <p:ext uri="{BB962C8B-B14F-4D97-AF65-F5344CB8AC3E}">
        <p14:creationId xmlns:p14="http://schemas.microsoft.com/office/powerpoint/2010/main" val="355719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84;p22" descr="page1image38191520">
            <a:extLst>
              <a:ext uri="{FF2B5EF4-FFF2-40B4-BE49-F238E27FC236}">
                <a16:creationId xmlns:a16="http://schemas.microsoft.com/office/drawing/2014/main" id="{8C634B44-61E6-FBAC-87FC-008A1888FF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0392" y="0"/>
            <a:ext cx="232332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047580-BCC5-162E-7459-DB52494A70BA}"/>
              </a:ext>
            </a:extLst>
          </p:cNvPr>
          <p:cNvSpPr txBox="1"/>
          <p:nvPr/>
        </p:nvSpPr>
        <p:spPr>
          <a:xfrm>
            <a:off x="3745523" y="2501384"/>
            <a:ext cx="61018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THANK 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5232094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176</TotalTime>
  <Words>1021</Words>
  <Application>Microsoft Office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Gallery</vt:lpstr>
      <vt:lpstr>PowerPoint Presentation</vt:lpstr>
      <vt:lpstr>Problem Statement Explanation</vt:lpstr>
      <vt:lpstr>Objective of the System: Design an Ethical AI-Driven Loan Decision Support System</vt:lpstr>
      <vt:lpstr>PowerPoint Presentation</vt:lpstr>
      <vt:lpstr> Cost Estimation to Implement the System (Approx.) </vt:lpstr>
      <vt:lpstr>Variables of LOAN ELIGIBILITY CHECKER</vt:lpstr>
      <vt:lpstr>PowerPoint Presentation</vt:lpstr>
      <vt:lpstr>PowerPoint Presentation</vt:lpstr>
      <vt:lpstr>Ethical AI–Driven Loan Eligibility System Rule-Based Risk Assessment Framework </vt:lpstr>
      <vt:lpstr>RULES BASED EXPERT SYSTEM</vt:lpstr>
      <vt:lpstr>RULES BASED EXPERT SYSTEM </vt:lpstr>
      <vt:lpstr>PowerPoint Presentation</vt:lpstr>
      <vt:lpstr>EXPECTED BENEFITS</vt:lpstr>
      <vt:lpstr>RECOMMENDTIONS FOR LOAN PROCESSING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Shalini Simran Roshan</dc:creator>
  <cp:lastModifiedBy>Shalini Simran Roshan</cp:lastModifiedBy>
  <cp:revision>3</cp:revision>
  <dcterms:created xsi:type="dcterms:W3CDTF">2026-02-11T12:16:20Z</dcterms:created>
  <dcterms:modified xsi:type="dcterms:W3CDTF">2026-05-05T11:39:48Z</dcterms:modified>
</cp:coreProperties>
</file>